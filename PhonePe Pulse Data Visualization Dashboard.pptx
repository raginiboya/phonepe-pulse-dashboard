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63" r:id="rId14"/>
    <p:sldId id="266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29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08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39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07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41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90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5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79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6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1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45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143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94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163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11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56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45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FE1707B-6DA1-450C-AF38-C5D7028170E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729E9B-9AEE-4267-B567-C384F8E1C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7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ED05-FD2C-A47B-8419-4ED3C3447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PhonePe</a:t>
            </a:r>
            <a:r>
              <a:rPr lang="en-US" dirty="0">
                <a:solidFill>
                  <a:schemeClr val="bg1"/>
                </a:solidFill>
              </a:rPr>
              <a:t> Pulse Data Visualization Dashboard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2DAED-D19E-7691-F693-05A8AE011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Ragini Boya</a:t>
            </a:r>
            <a:br>
              <a:rPr lang="en-IN" dirty="0"/>
            </a:br>
            <a:r>
              <a:rPr lang="en-IN" dirty="0"/>
              <a:t>Data Science Project</a:t>
            </a:r>
            <a:br>
              <a:rPr lang="en-IN" dirty="0"/>
            </a:br>
            <a:r>
              <a:rPr lang="en-IN" dirty="0"/>
              <a:t>Technologies: Python, MySQL, </a:t>
            </a:r>
            <a:r>
              <a:rPr lang="en-IN" dirty="0" err="1"/>
              <a:t>Streamlit</a:t>
            </a:r>
            <a:r>
              <a:rPr lang="en-IN" dirty="0"/>
              <a:t>, </a:t>
            </a:r>
            <a:r>
              <a:rPr lang="en-IN" dirty="0" err="1"/>
              <a:t>Plotly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68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001B-C950-1574-159D-5C8359A9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Project 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DDC8-7B7F-16E0-2E6C-199B7686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  <a:endParaRPr lang="en-US" dirty="0"/>
          </a:p>
          <a:p>
            <a:r>
              <a:rPr lang="en-US" dirty="0"/>
              <a:t>Analyze digital payment trends across India</a:t>
            </a:r>
          </a:p>
          <a:p>
            <a:r>
              <a:rPr lang="en-US" dirty="0"/>
              <a:t>Study transaction growth, user engagement, and insurance adoption</a:t>
            </a:r>
          </a:p>
          <a:p>
            <a:r>
              <a:rPr lang="en-US" dirty="0"/>
              <a:t>Build an interactive dashboard for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92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04C4-608C-A033-98C8-88CEED38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F7CC-1F5F-84C8-F236-C86A7FF1A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PhonePe</a:t>
            </a:r>
            <a:r>
              <a:rPr lang="en-US" dirty="0"/>
              <a:t> Pulse dataset</a:t>
            </a:r>
          </a:p>
          <a:p>
            <a:r>
              <a:rPr lang="en-US" dirty="0"/>
              <a:t>JSON-based structured data</a:t>
            </a:r>
          </a:p>
          <a:p>
            <a:r>
              <a:rPr lang="en-US" dirty="0"/>
              <a:t>State-wise and district-wise digital payment data</a:t>
            </a:r>
          </a:p>
          <a:p>
            <a:r>
              <a:rPr lang="en-US" dirty="0"/>
              <a:t>Source: </a:t>
            </a:r>
            <a:r>
              <a:rPr lang="en-US" dirty="0" err="1"/>
              <a:t>PhonePe</a:t>
            </a:r>
            <a:r>
              <a:rPr lang="en-US" dirty="0"/>
              <a:t> Pulse GitHub repository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65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E696-0A43-37F5-23BD-5364C444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14A7-71C0-DA90-3B73-3F9BE51BB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Tools &amp; Technologies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MySQL</a:t>
            </a:r>
          </a:p>
          <a:p>
            <a:r>
              <a:rPr lang="en-IN" dirty="0" err="1"/>
              <a:t>Streamlit</a:t>
            </a:r>
            <a:endParaRPr lang="en-IN" dirty="0"/>
          </a:p>
          <a:p>
            <a:r>
              <a:rPr lang="en-IN" dirty="0" err="1"/>
              <a:t>Ploty</a:t>
            </a:r>
            <a:endParaRPr lang="en-IN" dirty="0"/>
          </a:p>
          <a:p>
            <a:r>
              <a:rPr lang="en-IN" dirty="0" err="1"/>
              <a:t>GitHuB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14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EE1-316E-0910-D5C8-EAAFDFB4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Processing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FE91C-A399-2C5B-A08E-DB9177E0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Workflow</a:t>
            </a:r>
          </a:p>
          <a:p>
            <a:r>
              <a:rPr lang="en-IN" dirty="0"/>
              <a:t>Extract JSON Data</a:t>
            </a:r>
          </a:p>
          <a:p>
            <a:r>
              <a:rPr lang="en-IN" dirty="0"/>
              <a:t>Clean and transform data</a:t>
            </a:r>
          </a:p>
          <a:p>
            <a:r>
              <a:rPr lang="en-IN" dirty="0"/>
              <a:t>Store data in MySQL</a:t>
            </a:r>
          </a:p>
          <a:p>
            <a:r>
              <a:rPr lang="en-IN" dirty="0"/>
              <a:t>Query using My SQL</a:t>
            </a:r>
          </a:p>
          <a:p>
            <a:r>
              <a:rPr lang="en-IN" dirty="0"/>
              <a:t>Visualize through </a:t>
            </a:r>
            <a:r>
              <a:rPr lang="en-IN" dirty="0" err="1"/>
              <a:t>Streamlit</a:t>
            </a:r>
            <a:r>
              <a:rPr lang="en-IN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85869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D15C-6CC1-D165-38B8-A7456053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2" y="256970"/>
            <a:ext cx="10515600" cy="1325563"/>
          </a:xfrm>
        </p:spPr>
        <p:txBody>
          <a:bodyPr/>
          <a:lstStyle/>
          <a:p>
            <a:r>
              <a:rPr lang="en-IN" u="sng" dirty="0"/>
              <a:t>Database Tables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854C-E036-0524-11C1-AF5FCDEE4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Tables Used</a:t>
            </a:r>
          </a:p>
          <a:p>
            <a:r>
              <a:rPr lang="en-IN" dirty="0" err="1"/>
              <a:t>aggregated_transaction</a:t>
            </a:r>
            <a:endParaRPr lang="en-IN" dirty="0"/>
          </a:p>
          <a:p>
            <a:r>
              <a:rPr lang="en-IN" dirty="0" err="1"/>
              <a:t>aggregated_user</a:t>
            </a:r>
            <a:endParaRPr lang="en-IN" dirty="0"/>
          </a:p>
          <a:p>
            <a:r>
              <a:rPr lang="en-IN" dirty="0" err="1"/>
              <a:t>map_user</a:t>
            </a:r>
            <a:endParaRPr lang="en-IN" dirty="0"/>
          </a:p>
          <a:p>
            <a:r>
              <a:rPr lang="en-IN" dirty="0" err="1"/>
              <a:t>top_transaction</a:t>
            </a:r>
            <a:endParaRPr lang="en-IN" dirty="0"/>
          </a:p>
          <a:p>
            <a:r>
              <a:rPr lang="en-IN" dirty="0" err="1"/>
              <a:t>top_insurance</a:t>
            </a:r>
            <a:endParaRPr lang="en-IN" dirty="0"/>
          </a:p>
          <a:p>
            <a:r>
              <a:rPr lang="en-IN" dirty="0" err="1"/>
              <a:t>aggregated_insurance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90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96B8-7DBC-C022-0ACB-48038468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E99D-8551-3C59-A393-856182B98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Dashboard features</a:t>
            </a:r>
          </a:p>
          <a:p>
            <a:r>
              <a:rPr lang="en-IN" dirty="0"/>
              <a:t>India map visualization</a:t>
            </a:r>
          </a:p>
          <a:p>
            <a:r>
              <a:rPr lang="en-IN" dirty="0"/>
              <a:t>Year and Quarter filters</a:t>
            </a:r>
          </a:p>
          <a:p>
            <a:r>
              <a:rPr lang="en-IN" dirty="0"/>
              <a:t>Category selection: Transactions/Users/Insurance</a:t>
            </a:r>
          </a:p>
          <a:p>
            <a:r>
              <a:rPr lang="en-IN" dirty="0"/>
              <a:t>KPI Cards</a:t>
            </a:r>
          </a:p>
          <a:p>
            <a:r>
              <a:rPr lang="en-IN" dirty="0"/>
              <a:t>Top 10 state analysis</a:t>
            </a:r>
          </a:p>
          <a:p>
            <a:r>
              <a:rPr lang="en-IN" dirty="0"/>
              <a:t>Case study analysis page</a:t>
            </a:r>
          </a:p>
        </p:txBody>
      </p:sp>
    </p:spTree>
    <p:extLst>
      <p:ext uri="{BB962C8B-B14F-4D97-AF65-F5344CB8AC3E}">
        <p14:creationId xmlns:p14="http://schemas.microsoft.com/office/powerpoint/2010/main" val="31772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1B98-F2A7-5D4F-B5C9-3F6645C0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Case Study 1: Device Dominance and User Engagement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3F5FB-EA29-6673-EB1D-05775604E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2971" y="2731320"/>
            <a:ext cx="4825158" cy="3416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• Xiaomi, Samsung, Vivo, and Oppo dominate the </a:t>
            </a:r>
            <a:r>
              <a:rPr lang="en-US" dirty="0" err="1"/>
              <a:t>PhonePe</a:t>
            </a:r>
            <a:r>
              <a:rPr lang="en-US" dirty="0"/>
              <a:t> user base.</a:t>
            </a:r>
            <a:br>
              <a:rPr lang="en-US" dirty="0"/>
            </a:br>
            <a:r>
              <a:rPr lang="en-US" dirty="0"/>
              <a:t>• Android devices contribute the majority of registered users.</a:t>
            </a:r>
            <a:br>
              <a:rPr lang="en-US" dirty="0"/>
            </a:br>
            <a:r>
              <a:rPr lang="en-US" dirty="0"/>
              <a:t>• Device usage varies across states depending on affordability and popularity.</a:t>
            </a:r>
            <a:br>
              <a:rPr lang="en-US" dirty="0"/>
            </a:br>
            <a:r>
              <a:rPr lang="en-US" dirty="0"/>
              <a:t>• Smartphone adoption has increased steadily over the years.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F8E2C-AEB4-2C1F-171B-FC009FC518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pPr marL="0" indent="0">
              <a:buNone/>
            </a:pPr>
            <a:r>
              <a:rPr lang="en-US" dirty="0"/>
              <a:t>• Optimize the </a:t>
            </a:r>
            <a:r>
              <a:rPr lang="en-US" dirty="0" err="1"/>
              <a:t>PhonePe</a:t>
            </a:r>
            <a:r>
              <a:rPr lang="en-US" dirty="0"/>
              <a:t> app for the most widely used Android devices.</a:t>
            </a:r>
            <a:br>
              <a:rPr lang="en-US" dirty="0"/>
            </a:br>
            <a:r>
              <a:rPr lang="en-US" dirty="0"/>
              <a:t>• Partner with major smartphone brands for promotional campaigns.</a:t>
            </a:r>
            <a:br>
              <a:rPr lang="en-US" dirty="0"/>
            </a:br>
            <a:r>
              <a:rPr lang="en-US" dirty="0"/>
              <a:t>• Ensure compatibility with mid-range smartphones to improve user experience.</a:t>
            </a:r>
            <a:br>
              <a:rPr lang="en-US" dirty="0"/>
            </a:br>
            <a:r>
              <a:rPr lang="en-US" dirty="0"/>
              <a:t>• Target regions with growing smartphone adoption for marketing efforts.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7F4E5538-FE7C-F505-3F75-C79384529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531" y="2731320"/>
            <a:ext cx="454360" cy="454360"/>
          </a:xfrm>
          <a:prstGeom prst="rect">
            <a:avLst/>
          </a:prstGeom>
        </p:spPr>
      </p:pic>
      <p:pic>
        <p:nvPicPr>
          <p:cNvPr id="9" name="Graphic 8" descr="Lightbulb and gear with solid fill">
            <a:extLst>
              <a:ext uri="{FF2B5EF4-FFF2-40B4-BE49-F238E27FC236}">
                <a16:creationId xmlns:a16="http://schemas.microsoft.com/office/drawing/2014/main" id="{0F7FF82C-1327-5004-69AA-A947BC2BF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8820" y="2552291"/>
            <a:ext cx="454359" cy="45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0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5D85-065A-5CEA-2971-B2D50EC2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Case Study 2: Insurance Penetration and Growth Potential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24E5-1152-A554-7F24-15DF5D4646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• Some states generate significantly higher insurance transaction values.</a:t>
            </a:r>
            <a:br>
              <a:rPr lang="en-US" dirty="0"/>
            </a:br>
            <a:r>
              <a:rPr lang="en-US" dirty="0"/>
              <a:t>• Insurance purchases are increasing steadily over the years.</a:t>
            </a:r>
            <a:br>
              <a:rPr lang="en-US" dirty="0"/>
            </a:br>
            <a:r>
              <a:rPr lang="en-US" dirty="0"/>
              <a:t>• Certain quarters show higher insurance adoption due to seasonal trends.</a:t>
            </a:r>
            <a:br>
              <a:rPr lang="en-US" dirty="0"/>
            </a:br>
            <a:r>
              <a:rPr lang="en-US" dirty="0"/>
              <a:t>• Several states still show low insurance adoption levels.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20572-2517-11BD-5286-65CB8624AD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pPr marL="0" indent="0">
              <a:buNone/>
            </a:pPr>
            <a:r>
              <a:rPr lang="en-US" dirty="0"/>
              <a:t>• Focus insurance marketing campaigns in high-performing states.</a:t>
            </a:r>
            <a:br>
              <a:rPr lang="en-US" dirty="0"/>
            </a:br>
            <a:r>
              <a:rPr lang="en-US" dirty="0"/>
              <a:t>• Increase awareness programs in low adoption regions.</a:t>
            </a:r>
            <a:br>
              <a:rPr lang="en-US" dirty="0"/>
            </a:br>
            <a:r>
              <a:rPr lang="en-US" dirty="0"/>
              <a:t>• Partner with insurance providers for better product offerings.</a:t>
            </a:r>
            <a:br>
              <a:rPr lang="en-US" dirty="0"/>
            </a:br>
            <a:r>
              <a:rPr lang="en-US" dirty="0"/>
              <a:t>• Offer incentives or discounts to encourage insurance purchases.</a:t>
            </a:r>
          </a:p>
          <a:p>
            <a:endParaRPr lang="en-IN" dirty="0"/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3015CD11-13DF-D3A4-15E0-946A0CE36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0250" y="2499851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6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6479-AA48-C108-FF08-CD87E19F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Case Study 3: Transaction Analysis for Market Expansion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0F6A-0A56-1B79-51BC-49163EEBCE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• States with strong digital adoption generate the highest transaction value.</a:t>
            </a:r>
            <a:br>
              <a:rPr lang="en-US" dirty="0"/>
            </a:br>
            <a:r>
              <a:rPr lang="en-US" dirty="0"/>
              <a:t>• Transaction volume continues to grow each year.</a:t>
            </a:r>
            <a:br>
              <a:rPr lang="en-US" dirty="0"/>
            </a:br>
            <a:r>
              <a:rPr lang="en-US" dirty="0"/>
              <a:t>• Seasonal trends influence transaction activity.</a:t>
            </a:r>
            <a:br>
              <a:rPr lang="en-US" dirty="0"/>
            </a:br>
            <a:r>
              <a:rPr lang="en-US" dirty="0"/>
              <a:t>• Certain transaction types dominate platform usage.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3D3D3-D265-C8CD-9E61-87F6418CBE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pPr marL="0" indent="0">
              <a:buNone/>
            </a:pPr>
            <a:r>
              <a:rPr lang="en-US" dirty="0"/>
              <a:t>• Expand </a:t>
            </a:r>
            <a:r>
              <a:rPr lang="en-US" dirty="0" err="1"/>
              <a:t>PhonePe</a:t>
            </a:r>
            <a:r>
              <a:rPr lang="en-US" dirty="0"/>
              <a:t> services in high transaction states.</a:t>
            </a:r>
            <a:br>
              <a:rPr lang="en-US" dirty="0"/>
            </a:br>
            <a:r>
              <a:rPr lang="en-US" dirty="0"/>
              <a:t>• Encourage digital payments in emerging regions.</a:t>
            </a:r>
            <a:br>
              <a:rPr lang="en-US" dirty="0"/>
            </a:br>
            <a:r>
              <a:rPr lang="en-US" dirty="0"/>
              <a:t>• Introduce targeted promotions during high transaction seasons.</a:t>
            </a:r>
            <a:br>
              <a:rPr lang="en-US" dirty="0"/>
            </a:br>
            <a:r>
              <a:rPr lang="en-US" dirty="0"/>
              <a:t>• Improve services around the most frequently used transaction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76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8A88-73DB-C4D1-6997-66ED23B8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Case Study 4: User Engagement and Growth Strategy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91D1-7A56-8BB6-6D6C-7974CB30F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• Some states have significantly larger </a:t>
            </a:r>
            <a:r>
              <a:rPr lang="en-US" dirty="0" err="1"/>
              <a:t>PhonePe</a:t>
            </a:r>
            <a:r>
              <a:rPr lang="en-US" dirty="0"/>
              <a:t> user bases.</a:t>
            </a:r>
            <a:br>
              <a:rPr lang="en-US" dirty="0"/>
            </a:br>
            <a:r>
              <a:rPr lang="en-US" dirty="0"/>
              <a:t>• Certain districts show higher app engagement through frequent app opens.</a:t>
            </a:r>
            <a:br>
              <a:rPr lang="en-US" dirty="0"/>
            </a:br>
            <a:r>
              <a:rPr lang="en-US" dirty="0"/>
              <a:t>• User registration has grown consistently over time.</a:t>
            </a:r>
            <a:br>
              <a:rPr lang="en-US" dirty="0"/>
            </a:br>
            <a:r>
              <a:rPr lang="en-US" dirty="0"/>
              <a:t>• Engagement levels vary significantly across states.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D1D43-2A2E-E523-14C2-A9CED2EC3A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pPr marL="0" indent="0">
              <a:buNone/>
            </a:pPr>
            <a:r>
              <a:rPr lang="en-US" dirty="0"/>
              <a:t>• Focus user acquisition strategies in high-growth regions.</a:t>
            </a:r>
            <a:br>
              <a:rPr lang="en-US" dirty="0"/>
            </a:br>
            <a:r>
              <a:rPr lang="en-US" dirty="0"/>
              <a:t>• Improve engagement strategies in districts with lower activity.</a:t>
            </a:r>
            <a:br>
              <a:rPr lang="en-US" dirty="0"/>
            </a:br>
            <a:r>
              <a:rPr lang="en-US" dirty="0"/>
              <a:t>• Introduce personalized notifications and offers to increase app opens.</a:t>
            </a:r>
            <a:br>
              <a:rPr lang="en-US" dirty="0"/>
            </a:br>
            <a:r>
              <a:rPr lang="en-US" dirty="0"/>
              <a:t>• Strengthen regional marketing campaigns to expand the user 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05F5-95BF-5530-AC15-77B9427D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Case Study 5: Insurance Transactions Analysis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08DC7-2C59-599A-9930-F92D03DB18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• Some states and pin codes generate higher insurance transaction values.</a:t>
            </a:r>
            <a:br>
              <a:rPr lang="en-US" dirty="0"/>
            </a:br>
            <a:r>
              <a:rPr lang="en-US" dirty="0"/>
              <a:t>• Insurance adoption varies across geographic regions.</a:t>
            </a:r>
            <a:br>
              <a:rPr lang="en-US" dirty="0"/>
            </a:br>
            <a:r>
              <a:rPr lang="en-US" dirty="0"/>
              <a:t>• Certain regions show stronger insurance transaction growth.</a:t>
            </a:r>
            <a:br>
              <a:rPr lang="en-US" dirty="0"/>
            </a:br>
            <a:r>
              <a:rPr lang="en-US" dirty="0"/>
              <a:t>• Insurance transactions are steadily increasing over time.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D32ED-990B-DF22-4DDB-DB94986C26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Recommendations</a:t>
            </a:r>
          </a:p>
          <a:p>
            <a:pPr marL="0" indent="0">
              <a:buNone/>
            </a:pPr>
            <a:r>
              <a:rPr lang="en-US" dirty="0"/>
              <a:t>• Expand insurance services in high-performing states.</a:t>
            </a:r>
            <a:br>
              <a:rPr lang="en-US" dirty="0"/>
            </a:br>
            <a:r>
              <a:rPr lang="en-US" dirty="0"/>
              <a:t>• Target high-value pin code regions for insurance promotions.</a:t>
            </a:r>
            <a:br>
              <a:rPr lang="en-US" dirty="0"/>
            </a:br>
            <a:r>
              <a:rPr lang="en-US" dirty="0"/>
              <a:t>• Collaborate with insurance providers to increase coverage options.</a:t>
            </a:r>
            <a:br>
              <a:rPr lang="en-US" dirty="0"/>
            </a:br>
            <a:r>
              <a:rPr lang="en-US" dirty="0"/>
              <a:t>• Improve awareness about insurance benefits through digital campaigns.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683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4133-EFC8-30B1-F4B1-BC6F55C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6C96-174D-FBC2-8560-6D438BBD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Maharashtra and Karnataka consistently show the highest digital transaction volumes.</a:t>
            </a:r>
          </a:p>
          <a:p>
            <a:r>
              <a:rPr lang="en-IN" dirty="0"/>
              <a:t>Xiaomi and Samsung smartphone usage among </a:t>
            </a:r>
            <a:r>
              <a:rPr lang="en-IN" dirty="0" err="1"/>
              <a:t>Phonepe</a:t>
            </a:r>
            <a:r>
              <a:rPr lang="en-IN" dirty="0"/>
              <a:t> users.</a:t>
            </a:r>
          </a:p>
          <a:p>
            <a:r>
              <a:rPr lang="en-IN" dirty="0"/>
              <a:t>Digital transactions have increased significantly over the years across most Indian states.</a:t>
            </a:r>
          </a:p>
          <a:p>
            <a:r>
              <a:rPr lang="en-IN" dirty="0"/>
              <a:t>Insurance adoption is increasing gradually.</a:t>
            </a:r>
          </a:p>
          <a:p>
            <a:r>
              <a:rPr lang="en-IN" dirty="0"/>
              <a:t>Urban and Semi-Urban regions demonstrate higher digital adoption rates.</a:t>
            </a:r>
          </a:p>
          <a:p>
            <a:r>
              <a:rPr lang="en-IN" dirty="0"/>
              <a:t>User engagement varies across states.</a:t>
            </a:r>
          </a:p>
          <a:p>
            <a:r>
              <a:rPr lang="en-IN" dirty="0"/>
              <a:t>Insurance transactions are steadily increasing but still lower compared to payments. </a:t>
            </a:r>
          </a:p>
        </p:txBody>
      </p:sp>
    </p:spTree>
    <p:extLst>
      <p:ext uri="{BB962C8B-B14F-4D97-AF65-F5344CB8AC3E}">
        <p14:creationId xmlns:p14="http://schemas.microsoft.com/office/powerpoint/2010/main" val="1126713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DB2C-41F3-C0DF-B069-7F2116AC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5167-4A43-72B1-F04F-EF470B048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Business Recommendations</a:t>
            </a:r>
          </a:p>
          <a:p>
            <a:r>
              <a:rPr lang="en-IN" dirty="0" err="1"/>
              <a:t>Phonepe</a:t>
            </a:r>
            <a:r>
              <a:rPr lang="en-IN" dirty="0"/>
              <a:t> should strengthen marketing strategies in high- growth states such as Maharashtra and Karnataka.</a:t>
            </a:r>
          </a:p>
          <a:p>
            <a:r>
              <a:rPr lang="en-IN" dirty="0"/>
              <a:t>Collaborations with major smartphone like Xiaomi and Samsung can improve user onboarding.</a:t>
            </a:r>
          </a:p>
          <a:p>
            <a:r>
              <a:rPr lang="en-IN" dirty="0"/>
              <a:t>Awareness campaigns should be conducted in lower adoption regions to increase digital payment usage.</a:t>
            </a:r>
          </a:p>
          <a:p>
            <a:r>
              <a:rPr lang="en-IN" dirty="0"/>
              <a:t>Promote insurance products through targeted digital campaigns inside the app.</a:t>
            </a:r>
          </a:p>
          <a:p>
            <a:r>
              <a:rPr lang="en-IN" dirty="0"/>
              <a:t>Introduce incentives and cashback offers to encourage digital payment adoption in emerging markets.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95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2ABE-0E69-436A-975E-B13EC766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4F641-B4FC-601D-18CE-2E9A9A19B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Challenges</a:t>
            </a:r>
          </a:p>
          <a:p>
            <a:r>
              <a:rPr lang="en-IN" dirty="0"/>
              <a:t>Extracting and structuring the JSON data</a:t>
            </a:r>
          </a:p>
          <a:p>
            <a:r>
              <a:rPr lang="en-IN" dirty="0"/>
              <a:t>MySQL connectivity issues</a:t>
            </a:r>
          </a:p>
          <a:p>
            <a:r>
              <a:rPr lang="en-IN" dirty="0"/>
              <a:t>State name mismatches in map visualization</a:t>
            </a:r>
          </a:p>
          <a:p>
            <a:r>
              <a:rPr lang="en-IN" dirty="0"/>
              <a:t>Integrating queries with dashboard</a:t>
            </a:r>
          </a:p>
          <a:p>
            <a:r>
              <a:rPr lang="en-IN" dirty="0"/>
              <a:t>GitHub upload and deployment setup</a:t>
            </a:r>
          </a:p>
        </p:txBody>
      </p:sp>
    </p:spTree>
    <p:extLst>
      <p:ext uri="{BB962C8B-B14F-4D97-AF65-F5344CB8AC3E}">
        <p14:creationId xmlns:p14="http://schemas.microsoft.com/office/powerpoint/2010/main" val="4027430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0BA6-F335-79A5-7F68-B7166FB0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F91B-77F6-0DA1-76D0-065E11B76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u="sng" dirty="0"/>
              <a:t>Conclusion:</a:t>
            </a:r>
          </a:p>
          <a:p>
            <a:r>
              <a:rPr lang="en-IN" dirty="0"/>
              <a:t>The project converts raw payment data into meaningful business </a:t>
            </a:r>
            <a:r>
              <a:rPr lang="en-IN" dirty="0" err="1"/>
              <a:t>insignts</a:t>
            </a:r>
            <a:r>
              <a:rPr lang="en-IN" dirty="0"/>
              <a:t>.</a:t>
            </a:r>
          </a:p>
          <a:p>
            <a:r>
              <a:rPr lang="en-IN" dirty="0"/>
              <a:t>Interactive dashboards make trend analysis easier.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/>
              <a:t>Future Scope:</a:t>
            </a:r>
          </a:p>
          <a:p>
            <a:r>
              <a:rPr lang="en-IN" dirty="0"/>
              <a:t>District level drill-down</a:t>
            </a:r>
          </a:p>
          <a:p>
            <a:r>
              <a:rPr lang="en-IN" dirty="0"/>
              <a:t>Predictive analytics</a:t>
            </a:r>
          </a:p>
          <a:p>
            <a:r>
              <a:rPr lang="en-IN" dirty="0"/>
              <a:t>Cloud deployment</a:t>
            </a:r>
          </a:p>
          <a:p>
            <a:r>
              <a:rPr lang="en-IN" dirty="0"/>
              <a:t>More advanced visual storytelling.</a:t>
            </a:r>
          </a:p>
        </p:txBody>
      </p:sp>
    </p:spTree>
    <p:extLst>
      <p:ext uri="{BB962C8B-B14F-4D97-AF65-F5344CB8AC3E}">
        <p14:creationId xmlns:p14="http://schemas.microsoft.com/office/powerpoint/2010/main" val="998360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848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PhonePe Pulse Data Visualization Dashboard</vt:lpstr>
      <vt:lpstr>Project Objective </vt:lpstr>
      <vt:lpstr>Data Source</vt:lpstr>
      <vt:lpstr>Technology Stack</vt:lpstr>
      <vt:lpstr>Data Processing Workflow</vt:lpstr>
      <vt:lpstr>Database Tables Used</vt:lpstr>
      <vt:lpstr>Dashboard Features</vt:lpstr>
      <vt:lpstr>Case Study 1: Device Dominance and User Engagement</vt:lpstr>
      <vt:lpstr>Case Study 2: Insurance Penetration and Growth Potential</vt:lpstr>
      <vt:lpstr>Case Study 3: Transaction Analysis for Market Expansion</vt:lpstr>
      <vt:lpstr>Case Study 4: User Engagement and Growth Strategy</vt:lpstr>
      <vt:lpstr>Case Study 5: Insurance Transactions Analysis</vt:lpstr>
      <vt:lpstr>Key Insights</vt:lpstr>
      <vt:lpstr>Recommendations</vt:lpstr>
      <vt:lpstr>Challenges Faced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Ragini Boya</dc:creator>
  <cp:lastModifiedBy>Ragini Boya</cp:lastModifiedBy>
  <cp:revision>1</cp:revision>
  <dcterms:created xsi:type="dcterms:W3CDTF">2026-03-08T07:43:33Z</dcterms:created>
  <dcterms:modified xsi:type="dcterms:W3CDTF">2026-03-08T08:31:11Z</dcterms:modified>
</cp:coreProperties>
</file>